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946FA5-5D57-4A96-9BB9-7FF19293F76D}">
  <a:tblStyle styleId="{03946FA5-5D57-4A96-9BB9-7FF19293F76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9ccce53bc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409ccce53bc_3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9ccce53bc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409ccce53bc_3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ccce53bc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409ccce53bc_3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09ccce53bc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409ccce53bc_3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09ccce53bc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409ccce53bc_3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09ccce53bc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409ccce53bc_3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09ccce53bc_3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409ccce53bc_3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9ccce53bc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409ccce53bc_3_1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09ccce53b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409ccce53bc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ccce53bc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409ccce53bc_3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09ccce53bc_3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409ccce53bc_3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09ccce53bc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409ccce53bc_3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09ccce53bc_3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409ccce53bc_3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409ccce53bc_3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409ccce53bc_3_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409ccce53bc_3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409ccce53bc_3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09ccce53b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409ccce53bc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409ccce53b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409ccce53bc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8d0b27de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f8d0b27de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d0b27de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f8d0b27ded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8d0b27de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f8d0b27ded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09ccce53bc_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409ccce53bc_3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409ccce53bc_3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409ccce53bc_3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409ccce53bc_3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409ccce53bc_3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09ccce53bc_3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409ccce53bc_3_1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409ccce53bc_3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409ccce53bc_3_2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409ccce53bc_3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409ccce53bc_3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0" name="Google Shape;80;p1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6" name="Google Shape;96;p2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en-GB" sz="5000"/>
              <a:t>IBM University Engagement Project Submission</a:t>
            </a:r>
            <a:br>
              <a:rPr b="1" lang="en-GB"/>
            </a:b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761047" y="292774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3429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i="1" lang="en-GB"/>
              <a:t>“Exploring the Power of Agentic AI with IBM Granite and IBM Bob”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517968" y="3319027"/>
            <a:ext cx="8096846" cy="149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826741" y="880979"/>
            <a:ext cx="5569805" cy="338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1" name="Google Shape;131;p25"/>
          <p:cNvGraphicFramePr/>
          <p:nvPr/>
        </p:nvGraphicFramePr>
        <p:xfrm>
          <a:off x="974443" y="19502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{03946FA5-5D57-4A96-9BB9-7FF19293F76D}</a:tableStyleId>
              </a:tblPr>
              <a:tblGrid>
                <a:gridCol w="1607800"/>
                <a:gridCol w="1902500"/>
                <a:gridCol w="2269300"/>
                <a:gridCol w="1535700"/>
              </a:tblGrid>
              <a:tr h="72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Student Name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Recent Passport Photo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89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/>
                        <a:t>GULSHAN KUMAR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/>
                        <a:t>gulshanrajput2210@gmail.com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/>
                        <a:t>8287289235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25"/>
          <p:cNvSpPr txBox="1"/>
          <p:nvPr/>
        </p:nvSpPr>
        <p:spPr>
          <a:xfrm>
            <a:off x="904623" y="1095543"/>
            <a:ext cx="771019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b="1" lang="en-GB" sz="1800"/>
              <a:t>Healthcare &amp; Fitness / HealthTech </a:t>
            </a:r>
            <a:endParaRPr b="1" i="0" sz="18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904621" y="393274"/>
            <a:ext cx="7185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b="1" lang="en-GB" sz="1800"/>
              <a:t>Fitness Buddy</a:t>
            </a:r>
            <a:endParaRPr b="1" i="0" sz="18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5" title="ChatGPT Image Sep 10, 2026, 08_45_5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925" y="2693375"/>
            <a:ext cx="705499" cy="7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432054" y="1097655"/>
            <a:ext cx="7955400" cy="3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/>
              <a:t> </a:t>
            </a:r>
            <a:r>
              <a:rPr b="1" lang="en-GB" sz="1200" u="sng"/>
              <a:t>Fitness Buddy</a:t>
            </a:r>
            <a:endParaRPr b="1" sz="1200" u="sng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/>
              <a:t>The challenge - In today’s fast-paced world, many individuals struggle to maintain a healthy lifestyle due to lack of personalized guidance, time constraints, and inconsistent motivation. Traditional fitness solutions often require expensive subscriptions, in-person consultations, or rigid schedules that don't adapt to personal preferences or daily routines.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/>
              <a:t>There is a growing need for an accessible, friendly, and intelligent virtual assistant that can provide on-demand fitness advice, healthy lifestyle suggestions, and basic nutrition guidance—all tailored to individual needs and available at any time.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/>
              <a:t>Fitness Buddy aims to solve this problem by offering a conversational, AI-powered health and fitness coach that can:</a:t>
            </a:r>
            <a:endParaRPr b="1"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Recommend home workouts and routines based on user input.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/>
              <a:t>Provide motivational tips and daily fitness inspiration.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/>
              <a:t>Suggest simple, nutritious meal ideas.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/>
              <a:t>Encourage habit-building and consistency.</a:t>
            </a:r>
            <a:endParaRPr b="1"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432054" y="528066"/>
            <a:ext cx="5410962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363325" y="1132025"/>
            <a:ext cx="79635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Solution: </a:t>
            </a:r>
            <a:r>
              <a:rPr lang="en-GB" sz="1200">
                <a:solidFill>
                  <a:schemeClr val="dk1"/>
                </a:solidFill>
              </a:rPr>
              <a:t>We propose to develop </a:t>
            </a:r>
            <a:r>
              <a:rPr b="1" lang="en-GB" sz="1200">
                <a:solidFill>
                  <a:schemeClr val="dk1"/>
                </a:solidFill>
              </a:rPr>
              <a:t>Fitness Buddy</a:t>
            </a:r>
            <a:r>
              <a:rPr lang="en-GB" sz="1200">
                <a:solidFill>
                  <a:schemeClr val="dk1"/>
                </a:solidFill>
              </a:rPr>
              <a:t>, an AI-powered virtual fitness and wellness assistant that helps users maintain a healthy and active lifestyle. The platform will provide personalized home workout recommendations, simple and nutritious meal suggestions, daily motivational tips, and habit-building guidance based on the user's fitness goals, fitness level, preferences, and available time.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The web application will be developed using </a:t>
            </a:r>
            <a:r>
              <a:rPr b="1" lang="en-GB" sz="1200">
                <a:solidFill>
                  <a:schemeClr val="dk1"/>
                </a:solidFill>
              </a:rPr>
              <a:t>IBM Bob</a:t>
            </a:r>
            <a:r>
              <a:rPr lang="en-GB" sz="1200">
                <a:solidFill>
                  <a:schemeClr val="dk1"/>
                </a:solidFill>
              </a:rPr>
              <a:t>, providing a simple and user-friendly interface for users to interact with the Fitness Buddy assistant. </a:t>
            </a:r>
            <a:r>
              <a:rPr b="1" lang="en-GB" sz="1200">
                <a:solidFill>
                  <a:schemeClr val="dk1"/>
                </a:solidFill>
              </a:rPr>
              <a:t>IBM watsonx.ai</a:t>
            </a:r>
            <a:r>
              <a:rPr lang="en-GB" sz="1200">
                <a:solidFill>
                  <a:schemeClr val="dk1"/>
                </a:solidFill>
              </a:rPr>
              <a:t> and </a:t>
            </a:r>
            <a:r>
              <a:rPr b="1" lang="en-GB" sz="1200">
                <a:solidFill>
                  <a:schemeClr val="dk1"/>
                </a:solidFill>
              </a:rPr>
              <a:t>IBM Granite</a:t>
            </a:r>
            <a:r>
              <a:rPr lang="en-GB" sz="1200">
                <a:solidFill>
                  <a:schemeClr val="dk1"/>
                </a:solidFill>
              </a:rPr>
              <a:t> will power the AI capabilities and generate personalized fitness, wellness, and nutrition recommendations. </a:t>
            </a:r>
            <a:r>
              <a:rPr b="1" lang="en-GB" sz="1200">
                <a:solidFill>
                  <a:schemeClr val="dk1"/>
                </a:solidFill>
              </a:rPr>
              <a:t>IBM Watson Orchestrate</a:t>
            </a:r>
            <a:r>
              <a:rPr lang="en-GB" sz="1200">
                <a:solidFill>
                  <a:schemeClr val="dk1"/>
                </a:solidFill>
              </a:rPr>
              <a:t> will be used to coordinate AI-powered tasks and automate different activities within the application. </a:t>
            </a:r>
            <a:r>
              <a:rPr b="1" lang="en-GB" sz="1200">
                <a:solidFill>
                  <a:schemeClr val="dk1"/>
                </a:solidFill>
              </a:rPr>
              <a:t>IBM Cloud Lite services</a:t>
            </a:r>
            <a:r>
              <a:rPr lang="en-GB" sz="1200">
                <a:solidFill>
                  <a:schemeClr val="dk1"/>
                </a:solidFill>
              </a:rPr>
              <a:t> will support the application's cloud-based functionality and deployment.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The main goal of Fitness Buddy is to make fitness guidance </a:t>
            </a:r>
            <a:r>
              <a:rPr b="1" lang="en-GB" sz="1200">
                <a:solidFill>
                  <a:schemeClr val="dk1"/>
                </a:solidFill>
              </a:rPr>
              <a:t>simple, personalized, accessible, and easy to follow</a:t>
            </a:r>
            <a:r>
              <a:rPr lang="en-GB" sz="1200">
                <a:solidFill>
                  <a:schemeClr val="dk1"/>
                </a:solidFill>
              </a:rPr>
              <a:t>, helping users stay motivated, build healthy habits, and maintain consistency in their fitness journey.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32054" y="528066"/>
            <a:ext cx="5410962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/>
        </p:nvSpPr>
        <p:spPr>
          <a:xfrm>
            <a:off x="582930" y="363474"/>
            <a:ext cx="5342382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628655" y="1248931"/>
            <a:ext cx="78867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32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Bob platform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-For designing and orchestrating multi-agent workflows visually</a:t>
            </a:r>
            <a:endParaRPr sz="1200"/>
          </a:p>
          <a:p>
            <a:pPr indent="-1270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Grainte model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for eg – ibm-granite-3-2-8b – For natural language understanding, reasoning, and personalization</a:t>
            </a:r>
            <a:endParaRPr sz="1200"/>
          </a:p>
          <a:p>
            <a:pPr indent="-1270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It provides the infrastructure to build, deploy, and scale the Nutrition Agent efficiently. IBM Cloud enables a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reliable, secure, and scalable environment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deploying the Nutrition Agent.</a:t>
            </a:r>
            <a:endParaRPr sz="1200"/>
          </a:p>
          <a:p>
            <a:pPr indent="-1270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 -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model deployment, embeddings, and AI governance</a:t>
            </a:r>
            <a:endParaRPr sz="1200"/>
          </a:p>
          <a:p>
            <a:pPr indent="-1270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/>
          <p:nvPr/>
        </p:nvSpPr>
        <p:spPr>
          <a:xfrm>
            <a:off x="403192" y="242429"/>
            <a:ext cx="4431697" cy="336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00"/>
              <a:buFont typeface="Times New Roman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Required Files created using IBM bob -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9"/>
          <p:cNvSpPr/>
          <p:nvPr/>
        </p:nvSpPr>
        <p:spPr>
          <a:xfrm>
            <a:off x="1698248" y="5088433"/>
            <a:ext cx="1605558" cy="16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9"/>
          <p:cNvSpPr/>
          <p:nvPr/>
        </p:nvSpPr>
        <p:spPr>
          <a:xfrm>
            <a:off x="1336953" y="5325160"/>
            <a:ext cx="2328149" cy="54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9"/>
          <p:cNvSpPr/>
          <p:nvPr/>
        </p:nvSpPr>
        <p:spPr>
          <a:xfrm>
            <a:off x="4299287" y="5088433"/>
            <a:ext cx="1345436" cy="16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3807976" y="5325160"/>
            <a:ext cx="2328149" cy="54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9"/>
          <p:cNvSpPr/>
          <p:nvPr/>
        </p:nvSpPr>
        <p:spPr>
          <a:xfrm>
            <a:off x="6770311" y="5088433"/>
            <a:ext cx="1345436" cy="16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6278999" y="5325160"/>
            <a:ext cx="2328149" cy="548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333217" y="635915"/>
            <a:ext cx="6618000" cy="3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905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App.py</a:t>
            </a:r>
            <a:endParaRPr sz="1100"/>
          </a:p>
          <a:p>
            <a:pPr indent="-1651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Requirements.txt</a:t>
            </a:r>
            <a:endParaRPr sz="1100"/>
          </a:p>
          <a:p>
            <a:pPr indent="-1651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Style.css </a:t>
            </a:r>
            <a:endParaRPr sz="1100"/>
          </a:p>
          <a:p>
            <a:pPr indent="-1651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.env</a:t>
            </a:r>
            <a:endParaRPr sz="1100"/>
          </a:p>
          <a:p>
            <a:pPr indent="-1651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9" title="Screenshot 2026-09-10 2109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275" y="869438"/>
            <a:ext cx="6395724" cy="40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/>
          <p:nvPr/>
        </p:nvSpPr>
        <p:spPr>
          <a:xfrm>
            <a:off x="2725175" y="1037875"/>
            <a:ext cx="4673700" cy="252000"/>
          </a:xfrm>
          <a:prstGeom prst="frame">
            <a:avLst>
              <a:gd fmla="val 12500" name="adj1"/>
            </a:avLst>
          </a:prstGeom>
          <a:solidFill>
            <a:srgbClr val="FF0000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/>
          <p:nvPr/>
        </p:nvSpPr>
        <p:spPr>
          <a:xfrm>
            <a:off x="403192" y="242429"/>
            <a:ext cx="4431697" cy="336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00"/>
              <a:buFont typeface="Times New Roman"/>
              <a:buNone/>
            </a:pPr>
            <a:r>
              <a:rPr b="1" i="0" lang="en-GB" sz="26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GB" sz="18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875" y="793275"/>
            <a:ext cx="7581149" cy="41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1" title="Screenshot 2026-09-10 2005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00" y="430525"/>
            <a:ext cx="7847949" cy="432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2" title="Screenshot 2026-09-10 2005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88" y="152400"/>
            <a:ext cx="774322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/>
          <p:nvPr/>
        </p:nvSpPr>
        <p:spPr>
          <a:xfrm>
            <a:off x="403192" y="242429"/>
            <a:ext cx="4431697" cy="336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33" title="img_178905223896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00" y="578800"/>
            <a:ext cx="6332975" cy="42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8989" y="875620"/>
            <a:ext cx="2261507" cy="339226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356616" y="212598"/>
            <a:ext cx="6988302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 txBox="1"/>
          <p:nvPr/>
        </p:nvSpPr>
        <p:spPr>
          <a:xfrm>
            <a:off x="466344" y="875620"/>
            <a:ext cx="55551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</a:t>
            </a:r>
            <a:r>
              <a:rPr b="1" lang="en-GB" sz="1100"/>
              <a:t>Fitness Buddy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Agentic AI is the core of </a:t>
            </a:r>
            <a:r>
              <a:rPr b="1" lang="en-GB" sz="1100">
                <a:solidFill>
                  <a:schemeClr val="dk1"/>
                </a:solidFill>
              </a:rPr>
              <a:t>Fitness Buddy</a:t>
            </a:r>
            <a:r>
              <a:rPr lang="en-GB" sz="1100">
                <a:solidFill>
                  <a:schemeClr val="dk1"/>
                </a:solidFill>
              </a:rPr>
              <a:t>, acting as a personalized virtual fitness and wellness coach. It understands the user's fitness goals, fitness level, preferences, and daily needs to provide suitable recommendations instead of giving only fixed information.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AI agent can generate personalized </a:t>
            </a:r>
            <a:r>
              <a:rPr b="1" lang="en-GB" sz="1100">
                <a:solidFill>
                  <a:schemeClr val="dk1"/>
                </a:solidFill>
              </a:rPr>
              <a:t>workout routines, healthy meal suggestions, motivational tips, lifestyle guidance, and habit-building recommendations</a:t>
            </a:r>
            <a:r>
              <a:rPr lang="en-GB" sz="1100">
                <a:solidFill>
                  <a:schemeClr val="dk1"/>
                </a:solidFill>
              </a:rPr>
              <a:t>. Users can interact with it through a conversational interface and receive guidance based on their specific requirements.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IBM Granite</a:t>
            </a:r>
            <a:r>
              <a:rPr lang="en-GB" sz="1100">
                <a:solidFill>
                  <a:schemeClr val="dk1"/>
                </a:solidFill>
              </a:rPr>
              <a:t> provides natural language understanding and personalized responses, while </a:t>
            </a:r>
            <a:r>
              <a:rPr b="1" lang="en-GB" sz="1100">
                <a:solidFill>
                  <a:schemeClr val="dk1"/>
                </a:solidFill>
              </a:rPr>
              <a:t>IBM watsonx.ai</a:t>
            </a:r>
            <a:r>
              <a:rPr lang="en-GB" sz="1100">
                <a:solidFill>
                  <a:schemeClr val="dk1"/>
                </a:solidFill>
              </a:rPr>
              <a:t> supports the AI capabilities. </a:t>
            </a:r>
            <a:r>
              <a:rPr b="1" lang="en-GB" sz="1100">
                <a:solidFill>
                  <a:schemeClr val="dk1"/>
                </a:solidFill>
              </a:rPr>
              <a:t>IBM Watson Orchestrate</a:t>
            </a:r>
            <a:r>
              <a:rPr lang="en-GB" sz="1100">
                <a:solidFill>
                  <a:schemeClr val="dk1"/>
                </a:solidFill>
              </a:rPr>
              <a:t> helps coordinate different AI tasks and workflows, and </a:t>
            </a:r>
            <a:r>
              <a:rPr b="1" lang="en-GB" sz="1100">
                <a:solidFill>
                  <a:schemeClr val="dk1"/>
                </a:solidFill>
              </a:rPr>
              <a:t>IBM Bob</a:t>
            </a:r>
            <a:r>
              <a:rPr lang="en-GB" sz="1100">
                <a:solidFill>
                  <a:schemeClr val="dk1"/>
                </a:solidFill>
              </a:rPr>
              <a:t> is used to build and organize the application.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1100">
                <a:solidFill>
                  <a:schemeClr val="dk1"/>
                </a:solidFill>
              </a:rPr>
              <a:t>Overall, Agentic AI makes Fitness Buddy </a:t>
            </a:r>
            <a:r>
              <a:rPr b="1" lang="en-GB" sz="1100">
                <a:solidFill>
                  <a:schemeClr val="dk1"/>
                </a:solidFill>
              </a:rPr>
              <a:t>interactive, personalized, adaptive, and goal-oriented</a:t>
            </a:r>
            <a:r>
              <a:rPr lang="en-GB" sz="1100">
                <a:solidFill>
                  <a:schemeClr val="dk1"/>
                </a:solidFill>
              </a:rPr>
              <a:t>, helping users stay motivated and consistent with their healthy lifestyle.</a:t>
            </a:r>
            <a:endParaRPr b="1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/>
          <p:nvPr/>
        </p:nvSpPr>
        <p:spPr>
          <a:xfrm>
            <a:off x="594894" y="256170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Usage 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5"/>
          <p:cNvSpPr/>
          <p:nvPr/>
        </p:nvSpPr>
        <p:spPr>
          <a:xfrm>
            <a:off x="914043" y="3296598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5"/>
          <p:cNvSpPr/>
          <p:nvPr/>
        </p:nvSpPr>
        <p:spPr>
          <a:xfrm>
            <a:off x="914043" y="4073035"/>
            <a:ext cx="5601415" cy="28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35"/>
          <p:cNvSpPr txBox="1"/>
          <p:nvPr/>
        </p:nvSpPr>
        <p:spPr>
          <a:xfrm>
            <a:off x="673044" y="781600"/>
            <a:ext cx="3278378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11,761 token are used</a:t>
            </a:r>
            <a:endParaRPr sz="1100"/>
          </a:p>
        </p:txBody>
      </p:sp>
      <p:sp>
        <p:nvSpPr>
          <p:cNvPr id="204" name="Google Shape;204;p35"/>
          <p:cNvSpPr txBox="1"/>
          <p:nvPr/>
        </p:nvSpPr>
        <p:spPr>
          <a:xfrm>
            <a:off x="958979" y="1288550"/>
            <a:ext cx="2057399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Prompt</a:t>
            </a:r>
            <a:endParaRPr sz="1100"/>
          </a:p>
        </p:txBody>
      </p:sp>
      <p:sp>
        <p:nvSpPr>
          <p:cNvPr id="205" name="Google Shape;205;p35"/>
          <p:cNvSpPr txBox="1"/>
          <p:nvPr/>
        </p:nvSpPr>
        <p:spPr>
          <a:xfrm>
            <a:off x="5330121" y="1292189"/>
            <a:ext cx="2057399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the Prompt</a:t>
            </a:r>
            <a:endParaRPr sz="1100"/>
          </a:p>
        </p:txBody>
      </p:sp>
      <p:pic>
        <p:nvPicPr>
          <p:cNvPr id="206" name="Google Shape;206;p35" title="Screenshot 2026-09-10 2212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75" y="1714025"/>
            <a:ext cx="4596499" cy="26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5" title="Screenshot 2026-09-10 2224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875" y="1714025"/>
            <a:ext cx="4380901" cy="24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/>
          <p:nvPr/>
        </p:nvSpPr>
        <p:spPr>
          <a:xfrm>
            <a:off x="306858" y="84720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Project Output Screenshot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6"/>
          <p:cNvSpPr/>
          <p:nvPr/>
        </p:nvSpPr>
        <p:spPr>
          <a:xfrm>
            <a:off x="914043" y="2520162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6"/>
          <p:cNvSpPr/>
          <p:nvPr/>
        </p:nvSpPr>
        <p:spPr>
          <a:xfrm>
            <a:off x="914043" y="3296598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6"/>
          <p:cNvSpPr/>
          <p:nvPr/>
        </p:nvSpPr>
        <p:spPr>
          <a:xfrm>
            <a:off x="914043" y="4073035"/>
            <a:ext cx="5601415" cy="28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6"/>
          <p:cNvSpPr txBox="1"/>
          <p:nvPr/>
        </p:nvSpPr>
        <p:spPr>
          <a:xfrm>
            <a:off x="1001268" y="1399032"/>
            <a:ext cx="5125441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Please put IBM Bob output screenshots with 2-3 prompts.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take 2-3 more slides for each screenshot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00" y="612725"/>
            <a:ext cx="8843600" cy="437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/>
          <p:nvPr/>
        </p:nvSpPr>
        <p:spPr>
          <a:xfrm>
            <a:off x="306858" y="84720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Project Output Screenshot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7"/>
          <p:cNvSpPr/>
          <p:nvPr/>
        </p:nvSpPr>
        <p:spPr>
          <a:xfrm>
            <a:off x="914043" y="2520162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7"/>
          <p:cNvSpPr/>
          <p:nvPr/>
        </p:nvSpPr>
        <p:spPr>
          <a:xfrm>
            <a:off x="914043" y="3296598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7"/>
          <p:cNvSpPr/>
          <p:nvPr/>
        </p:nvSpPr>
        <p:spPr>
          <a:xfrm>
            <a:off x="914043" y="4073035"/>
            <a:ext cx="5601415" cy="28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7"/>
          <p:cNvSpPr txBox="1"/>
          <p:nvPr/>
        </p:nvSpPr>
        <p:spPr>
          <a:xfrm>
            <a:off x="1001268" y="1399032"/>
            <a:ext cx="5125441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Please put IBM Bob output screenshots with 2-3 prompts.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take 2-3 more slides for each screenshot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50" y="499475"/>
            <a:ext cx="8604248" cy="44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/>
          <p:nvPr/>
        </p:nvSpPr>
        <p:spPr>
          <a:xfrm>
            <a:off x="306858" y="84720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Project Output Screenshot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8"/>
          <p:cNvSpPr/>
          <p:nvPr/>
        </p:nvSpPr>
        <p:spPr>
          <a:xfrm>
            <a:off x="914043" y="2520162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8"/>
          <p:cNvSpPr/>
          <p:nvPr/>
        </p:nvSpPr>
        <p:spPr>
          <a:xfrm>
            <a:off x="914043" y="3296598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914043" y="4073035"/>
            <a:ext cx="5601415" cy="28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1001268" y="1399032"/>
            <a:ext cx="5125441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Please put IBM Bob output screenshots with 2-3 prompts.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take 2-3 more slides for each screenshot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75" y="419275"/>
            <a:ext cx="8648875" cy="45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/>
          <p:nvPr/>
        </p:nvSpPr>
        <p:spPr>
          <a:xfrm>
            <a:off x="306858" y="84720"/>
            <a:ext cx="4833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Project Output Screenshot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9"/>
          <p:cNvSpPr/>
          <p:nvPr/>
        </p:nvSpPr>
        <p:spPr>
          <a:xfrm>
            <a:off x="914043" y="2520162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9"/>
          <p:cNvSpPr/>
          <p:nvPr/>
        </p:nvSpPr>
        <p:spPr>
          <a:xfrm>
            <a:off x="914043" y="3296598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9"/>
          <p:cNvSpPr/>
          <p:nvPr/>
        </p:nvSpPr>
        <p:spPr>
          <a:xfrm>
            <a:off x="914043" y="4073035"/>
            <a:ext cx="560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9"/>
          <p:cNvSpPr txBox="1"/>
          <p:nvPr/>
        </p:nvSpPr>
        <p:spPr>
          <a:xfrm>
            <a:off x="1001268" y="1399032"/>
            <a:ext cx="5125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Please put IBM Bob output screenshots with 2-3 prompts.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take 2-3 more slides for each screenshot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25" y="728575"/>
            <a:ext cx="8625950" cy="42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/>
          <p:nvPr/>
        </p:nvSpPr>
        <p:spPr>
          <a:xfrm>
            <a:off x="306858" y="84720"/>
            <a:ext cx="4833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Project Output Screenshot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0"/>
          <p:cNvSpPr/>
          <p:nvPr/>
        </p:nvSpPr>
        <p:spPr>
          <a:xfrm>
            <a:off x="914043" y="2520162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40"/>
          <p:cNvSpPr/>
          <p:nvPr/>
        </p:nvSpPr>
        <p:spPr>
          <a:xfrm>
            <a:off x="914043" y="3296598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40"/>
          <p:cNvSpPr/>
          <p:nvPr/>
        </p:nvSpPr>
        <p:spPr>
          <a:xfrm>
            <a:off x="914043" y="4073035"/>
            <a:ext cx="560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40"/>
          <p:cNvSpPr txBox="1"/>
          <p:nvPr/>
        </p:nvSpPr>
        <p:spPr>
          <a:xfrm>
            <a:off x="1001268" y="1399032"/>
            <a:ext cx="5125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Please put IBM Bob output screenshots with 2-3 prompts.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take 2-3 more slides for each screenshot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325" y="533825"/>
            <a:ext cx="8545774" cy="44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/>
          <p:nvPr/>
        </p:nvSpPr>
        <p:spPr>
          <a:xfrm>
            <a:off x="306858" y="84720"/>
            <a:ext cx="4833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Project Output Screenshot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1"/>
          <p:cNvSpPr/>
          <p:nvPr/>
        </p:nvSpPr>
        <p:spPr>
          <a:xfrm>
            <a:off x="914043" y="2520162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41"/>
          <p:cNvSpPr/>
          <p:nvPr/>
        </p:nvSpPr>
        <p:spPr>
          <a:xfrm>
            <a:off x="914043" y="3296598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41"/>
          <p:cNvSpPr/>
          <p:nvPr/>
        </p:nvSpPr>
        <p:spPr>
          <a:xfrm>
            <a:off x="914043" y="4073035"/>
            <a:ext cx="560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41"/>
          <p:cNvSpPr txBox="1"/>
          <p:nvPr/>
        </p:nvSpPr>
        <p:spPr>
          <a:xfrm>
            <a:off x="1001268" y="1399032"/>
            <a:ext cx="5125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Please put IBM Bob output screenshots with 2-3 prompts.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take 2-3 more slides for each screenshot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41" title="100000077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26" y="577475"/>
            <a:ext cx="6888226" cy="3988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/>
          <p:nvPr/>
        </p:nvSpPr>
        <p:spPr>
          <a:xfrm>
            <a:off x="306858" y="84720"/>
            <a:ext cx="4833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Project Output Screenshot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2"/>
          <p:cNvSpPr/>
          <p:nvPr/>
        </p:nvSpPr>
        <p:spPr>
          <a:xfrm>
            <a:off x="914043" y="2520162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914043" y="3296598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42"/>
          <p:cNvSpPr/>
          <p:nvPr/>
        </p:nvSpPr>
        <p:spPr>
          <a:xfrm>
            <a:off x="914043" y="4073035"/>
            <a:ext cx="560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2"/>
          <p:cNvSpPr txBox="1"/>
          <p:nvPr/>
        </p:nvSpPr>
        <p:spPr>
          <a:xfrm>
            <a:off x="1001268" y="1399032"/>
            <a:ext cx="5125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Please put IBM Bob output screenshots with 2-3 prompts.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take 2-3 more slides for each screenshot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2" title="100000077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75" y="510075"/>
            <a:ext cx="6937352" cy="4391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/>
          <p:nvPr/>
        </p:nvSpPr>
        <p:spPr>
          <a:xfrm>
            <a:off x="306858" y="84720"/>
            <a:ext cx="48333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Project Output Screenshot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3"/>
          <p:cNvSpPr/>
          <p:nvPr/>
        </p:nvSpPr>
        <p:spPr>
          <a:xfrm>
            <a:off x="914043" y="2520162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43"/>
          <p:cNvSpPr/>
          <p:nvPr/>
        </p:nvSpPr>
        <p:spPr>
          <a:xfrm>
            <a:off x="914043" y="3296598"/>
            <a:ext cx="5601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914043" y="4073035"/>
            <a:ext cx="5601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43"/>
          <p:cNvSpPr txBox="1"/>
          <p:nvPr/>
        </p:nvSpPr>
        <p:spPr>
          <a:xfrm>
            <a:off x="1001268" y="1399032"/>
            <a:ext cx="5125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Please put IBM Bob output screenshots with 2-3 prompts.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can take 2-3 more slides for each screenshot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3" title="100000077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50" y="465237"/>
            <a:ext cx="7599529" cy="453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/>
        </p:nvSpPr>
        <p:spPr>
          <a:xfrm>
            <a:off x="582930" y="409274"/>
            <a:ext cx="534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4"/>
          <p:cNvSpPr txBox="1"/>
          <p:nvPr/>
        </p:nvSpPr>
        <p:spPr>
          <a:xfrm>
            <a:off x="582930" y="905256"/>
            <a:ext cx="8476500" cy="4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The uniqueness of Fitness Buddy lies in its ability to provide </a:t>
            </a:r>
            <a:r>
              <a:rPr b="1" lang="en-GB" sz="1200">
                <a:solidFill>
                  <a:schemeClr val="dk1"/>
                </a:solidFill>
              </a:rPr>
              <a:t>personalized fitness and wellness guidance through an AI-powered conversational agent</a:t>
            </a:r>
            <a:r>
              <a:rPr lang="en-GB" sz="1200">
                <a:solidFill>
                  <a:schemeClr val="dk1"/>
                </a:solidFill>
              </a:rPr>
              <a:t> rather than offering only fixed workout plans or general health information. The system understands the user's fitness goals, fitness level, preferences, and available time to provide more relevant recommendations.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The solution combines </a:t>
            </a:r>
            <a:r>
              <a:rPr b="1" lang="en-GB" sz="1200">
                <a:solidFill>
                  <a:schemeClr val="dk1"/>
                </a:solidFill>
              </a:rPr>
              <a:t>workout guidance, nutrition suggestions, motivation, and habit-building support</a:t>
            </a:r>
            <a:r>
              <a:rPr lang="en-GB" sz="1200">
                <a:solidFill>
                  <a:schemeClr val="dk1"/>
                </a:solidFill>
              </a:rPr>
              <a:t> in one platform. Its use of </a:t>
            </a:r>
            <a:r>
              <a:rPr b="1" lang="en-GB" sz="1200">
                <a:solidFill>
                  <a:schemeClr val="dk1"/>
                </a:solidFill>
              </a:rPr>
              <a:t>Agentic AI with IBM Granite, watsonx.ai, and Watson Orchestrate</a:t>
            </a:r>
            <a:r>
              <a:rPr lang="en-GB" sz="1200">
                <a:solidFill>
                  <a:schemeClr val="dk1"/>
                </a:solidFill>
              </a:rPr>
              <a:t> enables the system to intelligently handle different user requests and coordinate tasks to provide a more interactive experience.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sz="1200">
                <a:solidFill>
                  <a:schemeClr val="dk1"/>
                </a:solidFill>
              </a:rPr>
              <a:t>Unlike traditional fitness applications that may require expensive subscriptions or personal trainers, Fitness Buddy provides accessible and on-demand guidance through a simple web-based platform. The combination of </a:t>
            </a:r>
            <a:r>
              <a:rPr b="1" lang="en-GB" sz="1200">
                <a:solidFill>
                  <a:schemeClr val="dk1"/>
                </a:solidFill>
              </a:rPr>
              <a:t>AI personalization, conversational interaction, and multiple wellness features in a single assistant</a:t>
            </a:r>
            <a:r>
              <a:rPr lang="en-GB" sz="1200">
                <a:solidFill>
                  <a:schemeClr val="dk1"/>
                </a:solidFill>
              </a:rPr>
              <a:t> makes the solution practical, user-friendly, and suitable for people with different lifestyles and fitness goals.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It brings </a:t>
            </a:r>
            <a:r>
              <a:rPr b="1" lang="en-GB" sz="1200">
                <a:solidFill>
                  <a:schemeClr val="dk1"/>
                </a:solidFill>
              </a:rPr>
              <a:t>workouts, healthy meal suggestions, motivation, and habit tracking</a:t>
            </a:r>
            <a:r>
              <a:rPr lang="en-GB" sz="1200">
                <a:solidFill>
                  <a:schemeClr val="dk1"/>
                </a:solidFill>
              </a:rPr>
              <a:t> together in one AI-powered platform. Users can simply chat with the assistant and get quick, personalized guidance. The use of </a:t>
            </a:r>
            <a:r>
              <a:rPr b="1" lang="en-GB" sz="1200">
                <a:solidFill>
                  <a:schemeClr val="dk1"/>
                </a:solidFill>
              </a:rPr>
              <a:t>IBM Granite, watsonx.ai, and Watson Orchestrate</a:t>
            </a:r>
            <a:r>
              <a:rPr lang="en-GB" sz="1200">
                <a:solidFill>
                  <a:schemeClr val="dk1"/>
                </a:solidFill>
              </a:rPr>
              <a:t> makes the system more interactive and capable of handling different fitness and wellness tasks.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/>
          <p:nvPr/>
        </p:nvSpPr>
        <p:spPr>
          <a:xfrm>
            <a:off x="914043" y="315547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00"/>
              <a:buFont typeface="Times New Roman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5"/>
          <p:cNvSpPr/>
          <p:nvPr/>
        </p:nvSpPr>
        <p:spPr>
          <a:xfrm>
            <a:off x="914043" y="865284"/>
            <a:ext cx="6910935" cy="3207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https://github.com/Gulshan-web/Fitness-Buddy</a:t>
            </a:r>
            <a:endParaRPr b="1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5"/>
          <p:cNvSpPr/>
          <p:nvPr/>
        </p:nvSpPr>
        <p:spPr>
          <a:xfrm>
            <a:off x="914043" y="3296598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45"/>
          <p:cNvSpPr/>
          <p:nvPr/>
        </p:nvSpPr>
        <p:spPr>
          <a:xfrm>
            <a:off x="914043" y="4073035"/>
            <a:ext cx="5601415" cy="287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/>
          <p:nvPr/>
        </p:nvSpPr>
        <p:spPr>
          <a:xfrm>
            <a:off x="914043" y="315547"/>
            <a:ext cx="4833372" cy="5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00"/>
              <a:buFont typeface="Times New Roman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6"/>
          <p:cNvSpPr/>
          <p:nvPr/>
        </p:nvSpPr>
        <p:spPr>
          <a:xfrm>
            <a:off x="594450" y="916275"/>
            <a:ext cx="72303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Smartwatch &amp; Fitness Tracker Integration</a:t>
            </a:r>
            <a:r>
              <a:rPr lang="en-GB" sz="1150">
                <a:solidFill>
                  <a:schemeClr val="dk1"/>
                </a:solidFill>
              </a:rPr>
              <a:t> – Track steps, heart rate, calories, sleep, and daily activity.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Personalized Fitness Plans</a:t>
            </a:r>
            <a:r>
              <a:rPr lang="en-GB" sz="1150">
                <a:solidFill>
                  <a:schemeClr val="dk1"/>
                </a:solidFill>
              </a:rPr>
              <a:t> – Create long-term workout plans based on the user's progress.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Personalized Nutrition Plans</a:t>
            </a:r>
            <a:r>
              <a:rPr lang="en-GB" sz="1150">
                <a:solidFill>
                  <a:schemeClr val="dk1"/>
                </a:solidFill>
              </a:rPr>
              <a:t> – Provide meal recommendations based on goals and food preferences.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Voice AI Coach</a:t>
            </a:r>
            <a:r>
              <a:rPr lang="en-GB" sz="1150">
                <a:solidFill>
                  <a:schemeClr val="dk1"/>
                </a:solidFill>
              </a:rPr>
              <a:t> – Allow users to interact with the Fitness Buddy using voice while exercising.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Progress Tracking</a:t>
            </a:r>
            <a:r>
              <a:rPr lang="en-GB" sz="1150">
                <a:solidFill>
                  <a:schemeClr val="dk1"/>
                </a:solidFill>
              </a:rPr>
              <a:t> – Monitor fitness progress and provide regular reports.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Smart Reminders</a:t>
            </a:r>
            <a:r>
              <a:rPr lang="en-GB" sz="1150">
                <a:solidFill>
                  <a:schemeClr val="dk1"/>
                </a:solidFill>
              </a:rPr>
              <a:t> – Send reminders for workouts, water intake, meals, and healthy habits.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RAG Integration</a:t>
            </a:r>
            <a:r>
              <a:rPr lang="en-GB" sz="1150">
                <a:solidFill>
                  <a:schemeClr val="dk1"/>
                </a:solidFill>
              </a:rPr>
              <a:t> – Use a reliable fitness and nutrition knowledge base to provide more accurate information.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Advanced AI Personalization</a:t>
            </a:r>
            <a:r>
              <a:rPr lang="en-GB" sz="1150">
                <a:solidFill>
                  <a:schemeClr val="dk1"/>
                </a:solidFill>
              </a:rPr>
              <a:t> – Continuously improve recommendations based on user activity and progress.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Mobile Application</a:t>
            </a:r>
            <a:r>
              <a:rPr lang="en-GB" sz="1150">
                <a:solidFill>
                  <a:schemeClr val="dk1"/>
                </a:solidFill>
              </a:rPr>
              <a:t> – Expand Fitness Buddy into Android and iOS applications.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GB" sz="1150">
                <a:solidFill>
                  <a:schemeClr val="dk1"/>
                </a:solidFill>
              </a:rPr>
              <a:t>Complete Wellness Platform</a:t>
            </a:r>
            <a:r>
              <a:rPr lang="en-GB" sz="1150">
                <a:solidFill>
                  <a:schemeClr val="dk1"/>
                </a:solidFill>
              </a:rPr>
              <a:t> – Integrate fitness, nutrition, motivation, and habit tracking into one intelligent platform.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t/>
            </a:r>
            <a:endParaRPr b="1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46"/>
          <p:cNvSpPr/>
          <p:nvPr/>
        </p:nvSpPr>
        <p:spPr>
          <a:xfrm>
            <a:off x="914043" y="2520162"/>
            <a:ext cx="5601415" cy="57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400"/>
              <a:buFont typeface="Times New Roman"/>
              <a:buNone/>
            </a:pPr>
            <a:r>
              <a:rPr b="0" i="0" lang="en-GB" sz="140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/>
        </p:nvSpPr>
        <p:spPr>
          <a:xfrm>
            <a:off x="245962" y="155535"/>
            <a:ext cx="45720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825" y="539175"/>
            <a:ext cx="6357200" cy="44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 txBox="1"/>
          <p:nvPr/>
        </p:nvSpPr>
        <p:spPr>
          <a:xfrm>
            <a:off x="132522" y="169793"/>
            <a:ext cx="45720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48" title="100000076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850" y="726775"/>
            <a:ext cx="6419301" cy="41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9"/>
          <p:cNvPicPr preferRelativeResize="0"/>
          <p:nvPr/>
        </p:nvPicPr>
        <p:blipFill rotWithShape="1">
          <a:blip r:embed="rId3">
            <a:alphaModFix/>
          </a:blip>
          <a:srcRect b="17260" l="0" r="0" t="-17260"/>
          <a:stretch/>
        </p:blipFill>
        <p:spPr>
          <a:xfrm>
            <a:off x="155250" y="1500226"/>
            <a:ext cx="9143999" cy="185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